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18927" y="647395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47E"/>
                </a:solidFill>
                <a:latin typeface="Courier New"/>
              </a:rPr>
              <a:t>01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11480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GRADER VERSION × BASELINE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4071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2161C"/>
                </a:solidFill>
                <a:latin typeface="Arial"/>
              </a:rPr>
              <a:t>Same baseline code, three graders — the score moved without the agent changing.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34416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C444E"/>
                </a:solidFill>
                <a:latin typeface="Arial"/>
              </a:rPr>
              <a:t>The baseline ACE agent was byte-identical in all three runs. Every difference below is the measuring stick (and whether the agent could touch files), not the agent.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837943"/>
            <a:ext cx="112407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THE THREE GRADER ERAS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" y="2093976"/>
          <a:ext cx="11240718" cy="1481328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1695029"/>
                <a:gridCol w="2854785"/>
                <a:gridCol w="3211634"/>
                <a:gridCol w="3479270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E1  ·  ORIGINAL GRADER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E2  ·  ORIGINAL GRADER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E3  ·  ROBUST GRADER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Arial"/>
                        </a:rPr>
                        <a:t>Agent file ability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A33228"/>
                          </a:solidFill>
                          <a:latin typeface="Arial"/>
                        </a:rPr>
                        <a:t>No file access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Reads attachments (xlsx/pdf/docx/img)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E6F4C"/>
                          </a:solidFill>
                          <a:latin typeface="Arial"/>
                        </a:rPr>
                        <a:t>Reads + **writes real files** (code exec)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Arial"/>
                        </a:rPr>
                        <a:t>Grading call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single call, no retry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single call, no retry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E6F4C"/>
                          </a:solidFill>
                          <a:latin typeface="Arial"/>
                        </a:rPr>
                        <a:t>temp 0, **≤3 retries**, ≥half parse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Arial"/>
                        </a:rPr>
                        <a:t>File criteria scored by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text only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A33228"/>
                          </a:solidFill>
                          <a:latin typeface="Arial"/>
                        </a:rPr>
                        <a:t>text only — **credits phantom files**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E6F4C"/>
                          </a:solidFill>
                          <a:latin typeface="Arial"/>
                        </a:rPr>
                        <a:t>code run → **file existence verified**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2161C"/>
                          </a:solidFill>
                          <a:latin typeface="Arial"/>
                        </a:rPr>
                        <a:t>Deliverable graded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JSON final_answer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JSON final_answer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3C444E"/>
                          </a:solidFill>
                          <a:latin typeface="Arial"/>
                        </a:rPr>
                        <a:t>raw deliverable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5488" y="3886200"/>
            <a:ext cx="7040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BASELINE ACE — DETAILED NUMBERS (100 GDPVAL TASKS)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3886200"/>
            <a:ext cx="39712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47E"/>
                </a:solidFill>
                <a:latin typeface="Courier New"/>
              </a:rPr>
              <a:t>WHY IT MOVED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5488" y="4142232"/>
          <a:ext cx="7040880" cy="1730042"/>
        </p:xfrm>
        <a:graphic>
          <a:graphicData uri="http://schemas.openxmlformats.org/drawingml/2006/table">
            <a:tbl>
              <a:tblPr firstRow="0" bandRow="0" firstCol="0" bandCol="0" lastRow="0" lastCol="0">
                <a:tableStyleId>{5C22544A-7EE6-4342-B048-85BDC9FD1C3A}</a:tableStyleId>
              </a:tblPr>
              <a:tblGrid>
                <a:gridCol w="2286000"/>
                <a:gridCol w="1554480"/>
                <a:gridCol w="1554480"/>
                <a:gridCol w="16459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E1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E2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6B747E"/>
                          </a:solidFill>
                          <a:latin typeface="Courier New"/>
                        </a:rPr>
                        <a:t>E3</a:t>
                      </a:r>
                    </a:p>
                  </a:txBody>
                  <a:tcPr marL="54864" marR="54864" marT="27432" marB="27432" anchor="ctr">
                    <a:solidFill>
                      <a:srgbClr val="EDF0EE"/>
                    </a:solidFill>
                  </a:tcPr>
                </a:tc>
              </a:tr>
              <a:tr h="21579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Mean score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0.445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0.5306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0.5159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579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Pass rate (≥0.5)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579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Good (≥0.8)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579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Perfect (1.0)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579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Zeros (0.0)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579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Avg deliverable chars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1,451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2,090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2,170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579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2161C"/>
                          </a:solidFill>
                          <a:latin typeface="Arial"/>
                        </a:rPr>
                        <a:t>Total tokens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3.97 M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3.54 M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3C444E"/>
                          </a:solidFill>
                          <a:latin typeface="Arial"/>
                        </a:rPr>
                        <a:t>3.72 M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744968" y="4142232"/>
            <a:ext cx="3971239" cy="786384"/>
          </a:xfrm>
          <a:prstGeom prst="rect">
            <a:avLst/>
          </a:prstGeom>
          <a:solidFill>
            <a:srgbClr val="FAFBF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44968" y="4142232"/>
            <a:ext cx="38100" cy="786384"/>
          </a:xfrm>
          <a:prstGeom prst="rect">
            <a:avLst/>
          </a:prstGeom>
          <a:solidFill>
            <a:srgbClr val="2E6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2" y="4251960"/>
            <a:ext cx="369691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2161C"/>
                </a:solidFill>
                <a:latin typeface="Courier New"/>
              </a:rPr>
              <a:t>E1 → E2   </a:t>
            </a:r>
            <a:r>
              <a:rPr sz="1000" b="1" i="0">
                <a:solidFill>
                  <a:srgbClr val="2E6F4C"/>
                </a:solidFill>
                <a:latin typeface="Courier New"/>
              </a:rPr>
              <a:t>+0.086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Agent gained </a:t>
            </a:r>
            <a:r>
              <a:rPr sz="850" b="1" i="0">
                <a:solidFill>
                  <a:srgbClr val="3C444E"/>
                </a:solidFill>
                <a:latin typeface="Arial"/>
              </a:rPr>
              <a:t>file-read</a:t>
            </a:r>
            <a:r>
              <a:rPr sz="850" b="0" i="0">
                <a:solidFill>
                  <a:srgbClr val="3C444E"/>
                </a:solidFill>
                <a:latin typeface="Arial"/>
              </a:rPr>
              <a:t> ability — tasks that used to fabricate data now read real values. Zeros 22 → 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4968" y="5038344"/>
            <a:ext cx="3971239" cy="932688"/>
          </a:xfrm>
          <a:prstGeom prst="rect">
            <a:avLst/>
          </a:prstGeom>
          <a:solidFill>
            <a:srgbClr val="F9ECEA"/>
          </a:solidFill>
          <a:ln w="9525">
            <a:solidFill>
              <a:srgbClr val="D7D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44968" y="5038344"/>
            <a:ext cx="38100" cy="932688"/>
          </a:xfrm>
          <a:prstGeom prst="rect">
            <a:avLst/>
          </a:prstGeom>
          <a:solidFill>
            <a:srgbClr val="A3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2" y="5148072"/>
            <a:ext cx="369691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2161C"/>
                </a:solidFill>
                <a:latin typeface="Courier New"/>
              </a:rPr>
              <a:t>E2 → E3   </a:t>
            </a:r>
            <a:r>
              <a:rPr sz="1000" b="1" i="0">
                <a:solidFill>
                  <a:srgbClr val="A33228"/>
                </a:solidFill>
                <a:latin typeface="Courier New"/>
              </a:rPr>
              <a:t>−0.015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3C444E"/>
                </a:solidFill>
                <a:latin typeface="Arial"/>
              </a:rPr>
              <a:t>Code and agent </a:t>
            </a:r>
            <a:r>
              <a:rPr sz="850" b="1" i="0">
                <a:solidFill>
                  <a:srgbClr val="3C444E"/>
                </a:solidFill>
                <a:latin typeface="Arial"/>
              </a:rPr>
              <a:t>unchanged</a:t>
            </a:r>
            <a:r>
              <a:rPr sz="850" b="0" i="0">
                <a:solidFill>
                  <a:srgbClr val="3C444E"/>
                </a:solidFill>
                <a:latin typeface="Arial"/>
              </a:rPr>
              <a:t>. The grader stopped giving credit for files that were never created — pure measurement fix.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6080759"/>
            <a:ext cx="11240719" cy="530352"/>
          </a:xfrm>
          <a:prstGeom prst="roundRect">
            <a:avLst>
              <a:gd name="adj" fmla="val 4000"/>
            </a:avLst>
          </a:prstGeom>
          <a:solidFill>
            <a:srgbClr val="E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64008" bIns="64008" wrap="square"/>
          <a:lstStyle/>
          <a:p>
            <a:pPr algn="ctr"/>
            <a:r>
              <a:rPr sz="850" b="1" i="0">
                <a:solidFill>
                  <a:srgbClr val="3C444E"/>
                </a:solidFill>
                <a:latin typeface="Arial"/>
              </a:rPr>
              <a:t>Do not read these as “baseline improved.”</a:t>
            </a:r>
            <a:r>
              <a:rPr sz="850" b="0" i="0">
                <a:solidFill>
                  <a:srgbClr val="3C444E"/>
                </a:solidFill>
                <a:latin typeface="Arial"/>
              </a:rPr>
              <a:t>  Three different rulers. Compare only within an era — E1↔E2 also changed the agent's file ability; E2↔E3 changed only the grader, and the untouched baseline still dropped −0.015, which is the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